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 Classification for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Reduction in LLMs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Literature Review &amp;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P.U. Graandhikaa Sri (CH.SC.U4CSE23136)     T. L. Bharath (CH.SC.U4CSE23149)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Cost-Accuracy Tradeoff Study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8503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papers across hallucination, routing, and tool-augmented generation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50292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830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8562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Research Gaps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219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work missed and how this study addresses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88920"/>
            <a:ext cx="50292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889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8620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278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query to response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794760"/>
            <a:ext cx="50292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947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8679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Module-wise Data Flow Diagrams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movement across each module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Hallucination &amp; Detection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(Year &amp; Authors)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Venue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Technology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/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7160" y="98755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02412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Maynez et al. (2020)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facts, faithfulness…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0" y="987552"/>
            <a:ext cx="141732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024128"/>
            <a:ext cx="13624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98755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02412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taxonomy; faithfulness vs. factuality distinction in abstractive summarization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37760" y="98755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2412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summaries score ~84% by human eval; faithfulness &amp; factuality often conflate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73736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024128"/>
            <a:ext cx="168249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summarization; does not generalize to QA or conversational LLMs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" y="1856232"/>
            <a:ext cx="169164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189280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Easily Distracted by Irrelevant Context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0" y="1856232"/>
            <a:ext cx="141732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1892808"/>
            <a:ext cx="13624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1856232"/>
            <a:ext cx="169164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89280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study; GPT-3/4 on grade-school math with injected irrelevant sentences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37760" y="1856232"/>
            <a:ext cx="169164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89280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 by up to 20% when irrelevant context injected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29400" y="1856232"/>
            <a:ext cx="173736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1892808"/>
            <a:ext cx="168249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to math; no routing or mitigation strategy proposed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7160" y="272491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276148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Manakul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SelfCheckGPT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0" y="2724912"/>
            <a:ext cx="141732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2761488"/>
            <a:ext cx="13624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2023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46120" y="272491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76148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Consistency-based hallucination detection via multiple stochastic samples; NLI scoring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37760" y="272491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276148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perplexity-based baselines; AUC ~0.82 on WikiBio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29400" y="2724912"/>
            <a:ext cx="173736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2761488"/>
            <a:ext cx="168249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only; adds 3–5× inference cost; does not prevent generation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" y="3593592"/>
            <a:ext cx="169164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363016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Kadavath et al. (2022)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(Mostly) Know What They Know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0" y="3593592"/>
            <a:ext cx="141732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3630168"/>
            <a:ext cx="13624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2022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593592"/>
            <a:ext cx="169164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63016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 of own uncertainty via P(True); tested on GPT-like models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37760" y="3593592"/>
            <a:ext cx="169164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63016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improves with scale; models reliably flag own uncertainty at 50B+ params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629400" y="3593592"/>
            <a:ext cx="1737360" cy="8686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3630168"/>
            <a:ext cx="168249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very large model; confidence estimates degrade on adversarial queries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37160" y="446227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449884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et al. (2024)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Hallucinations with Semantic Entropy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828800" y="4462272"/>
            <a:ext cx="141732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56232" y="4498848"/>
            <a:ext cx="13624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2024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246120" y="446227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449884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semantically equivalent generations; flags high-entropy clusters as hallucinations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937760" y="4462272"/>
            <a:ext cx="169164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65192" y="4498848"/>
            <a:ext cx="163677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hallucination detection; F1 ~0.79 on TriviaQA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629400" y="4462272"/>
            <a:ext cx="1737360" cy="86868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4498848"/>
            <a:ext cx="168249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compute cost (multi-sample); no integration with routing; detects, does not prevent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Intent &amp; Query Classification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(Year &amp; Authors)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Venue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Technology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/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71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(2021)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with BERT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0" y="98755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02412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2021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on SNIPS/ATIS datasets for user intent classification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377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98.6% accuracy on SNIPS; 97.5% on ATIS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02412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Closed-domain intents only; no mapping to tool-routing or hallucination prevention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(2019)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for Text Classification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0" y="194767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198424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NAACL 2019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improvements; evaluated on GLUE, intent benchmarks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377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gain over BERT; strong baseline for classification tasks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29400" y="194767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198424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 only; no tool-call routing studied; no cost analysis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71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Larson et al. (2019)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 for Intent Detection OOS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0" y="290779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294436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2019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4612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CLINC-150 dataset; OOS (out-of-scope) query detection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377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in-scope accuracy; OOS detection degrades to ~75%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29400" y="290779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294436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in-scope vs. OOS framing; does not distinguish fact/math/creative categories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Ouyang et al. (2022)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(RLHF)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0" y="386791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390448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2022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to align LLM responses with user intent; instruction-following fine-tuning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377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85% of the time over GPT-3 (human eval)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629400" y="386791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390448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alignment ≠ intent classification; no explicit routing; high training cost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Tool-Augmented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(Year &amp; Authors)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Venue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Technology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/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71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Schick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Toolformer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0" y="98755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02412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2023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insertion of API calls (calculator, search, calendar) into generated text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377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GPT-3 on math/QA; competitive with GPT-3.5 on some tasks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02412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is implicit; no isolated routing benchmark; cold-start API calls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 — Program-Aided Language Models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0" y="194767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198424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Offloads all arithmetic to a Python interpreter; LLM produces code, not answers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377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+10–20% over direct prompting on GSM8K, MATH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29400" y="194767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198424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computational queries; routing to PAL assumed, not learned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71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Synergizing Reasoning and Acting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0" y="290779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294436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2023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4612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Interleaves chain-of-thought reasoning with tool calls; tested on HotpotQA, FEVER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377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chain-of-thought alone; 73.3% on HotpotQA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29400" y="290779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294436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baked into prompt structure; no lightweight classifier; high token usage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Trinh et al. (2024)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AlphaGeometry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0" y="386791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390448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2024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language constructs; symbolic solver derives proofs for olympiad geometry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377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25/30 IMO geometry problems; comparable to gold medalists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629400" y="386791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390448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(geometry only); routing not generalizable; not a practical classifier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Retrieval-Augmented Generation &amp; Model Routing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(Year &amp; Authors)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Venue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Technology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/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71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0" y="98755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02412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dense retrieval (DPR) with seq2seq generation; trained end-to-end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377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Natural Questions, TriviaQA; F1 +5–8% over closed-book GPT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02412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limits generation; no intent classifier; high latency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Mallen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Trust Language Models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0" y="194767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198424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2023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Popularity-based retrieval trigger; selectively queries Wikipedia for rare entities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377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 F1 on EntityQuestions; reduces unnecessary retrieval by ~60%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29400" y="194767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198424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heuristic only; no generalized classifier; does not cover math queries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71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Shnitzer et al. (2023)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Routing with Benchmark Datasets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0" y="290779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294436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2023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4612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route queries between large and small LLMs based on predicted accuracy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377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of GPT-4 accuracy at ~40% cost using routing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29400" y="290779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294436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between LLMs, not to tools; no intent categories; accuracy gap ignored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(2022)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— Low-Rank Adaptation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0" y="386791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390448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2022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 via low-rank matrix injection into transformer layers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377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full fine-tune on GLUE at ~0.1% trainable params; GPU memory ×3 reduction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629400" y="386791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390448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technique only; no routing or hallucination study; not a classifier by itself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Benchmarks &amp; Evaluation Frameworks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(Year &amp; Authors)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658368"/>
            <a:ext cx="14173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Venue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Technology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658368"/>
            <a:ext cx="16916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/ Performance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solidFill>
            <a:srgbClr val="2C3E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658368"/>
            <a:ext cx="1737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71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Hendrycks et al. (2021)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Multitask Language Understanding (MMLU)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0" y="98755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102412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2021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57-subject MCQ benchmark spanning STEM, humanities, social sciences; zero-shot/few-shot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37760" y="98755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2412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86.4%; human expert: ~89.8% on full MMLU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29400" y="98755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102412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format; no routing signal; does not differentiate factual vs. computational need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Cobbe et al. (2021)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— Grade School Math Benchmark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0" y="194767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198424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 multi-step arithmetic problems; tests step-by-step reasoning ability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37760" y="194767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98424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(CoT): 92%; prior SotA (fine-tuned): ~35%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629400" y="194767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198424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only; all queries route to calculator — no mixed-intent benchmark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371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et al. (2017)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0" y="2907792"/>
            <a:ext cx="141732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294436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2017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4612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 trivia QA pairs with evidence documents; tests factual retrieval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37760" y="2907792"/>
            <a:ext cx="169164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294436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79.7% F1; SotA models: ~88% F1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29400" y="2907792"/>
            <a:ext cx="1737360" cy="960120"/>
          </a:xfrm>
          <a:prstGeom prst="rect">
            <a:avLst/>
          </a:prstGeom>
          <a:solidFill>
            <a:srgbClr val="F9F9F9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294436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Fact-lookup only; no routing or multi-intent evaluation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et al. (2022)</a:t>
            </a:r>
            <a:endParaRPr lang="en-US" sz="700" dirty="0"/>
          </a:p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Evaluation of Language Models (HELM)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0" y="3867912"/>
            <a:ext cx="141732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56232" y="3904488"/>
            <a:ext cx="136245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2022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LLM benchmark: accuracy, calibration, robustness, fairness, efficiency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37760" y="3867912"/>
            <a:ext cx="169164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904488"/>
            <a:ext cx="163677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across 42 scenarios and 30+ metrics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629400" y="3867912"/>
            <a:ext cx="1737360" cy="9601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3904488"/>
            <a:ext cx="168249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model outputs, not routing decisions; no cost-accuracy tradeoff for routing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Research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work missed — and how this study fills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86868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68680"/>
            <a:ext cx="4572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686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hallucination detection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161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entropy, SelfCheckGPT, and NLI verification detect hallucinations after generation. None prevent the hallucination-prone call from being made.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874520"/>
            <a:ext cx="8686800" cy="86868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874520"/>
            <a:ext cx="4572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938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implicit inside large 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22199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and Claude route internally via full-scale LLM inference. No prior work isolates this routing decision as a separate, benchmarked component.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8686800" cy="86868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80360"/>
            <a:ext cx="4572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880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944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classifiers not connected to tool-routing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2278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BERT/RoBERTa intent classifiers (SNIPS, ATIS, CLINC) classify dialogue acts — not whether a query needs a calculator, search engine, or open-ended generation.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886200"/>
            <a:ext cx="8686800" cy="86868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886200"/>
            <a:ext cx="457200" cy="8686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886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9502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cost-accuracy tradeoff reported for routing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2336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studies compare accuracy but omit latency and inference cost. No study reports: how much accuracy is lost, and how much cost is saved, under matched conditions.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Study Addresses the Gaps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148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3657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intent BEFORE generation (not after)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routing as an explicit, isolated module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2037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4-class taxonomy: MATHDS / TXTSRC / SEMADPT / CSTRSET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6883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 a small language model (SLM) as classifier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3172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SLM vs. large LLM (zero-shot) on same test set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both accuracy AND inference cost together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343400" cy="411480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777240"/>
            <a:ext cx="4343400" cy="365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777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2618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Gap 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Prevention-first: routing ensures the right modality is chosen pre-generation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Gap 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3500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an explicit module — isolated, measured, and benchmarked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9443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Gap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191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categories directly map to tool selection (calculator, search, generative)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37856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Gap 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Cost-accuracy tradeoff is the primary reported metric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9377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from user query to routed response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2103120"/>
            <a:ext cx="12801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natural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input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37360" y="2103120"/>
            <a:ext cx="14630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1396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5054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SLM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(BERT/DistilBERT)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74720" y="2103120"/>
            <a:ext cx="12801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396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label 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module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417320" y="2491740"/>
            <a:ext cx="32004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2386584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491740"/>
            <a:ext cx="2743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386584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99232" y="226771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1257300"/>
            <a:ext cx="0" cy="272034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25730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1156716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914400"/>
            <a:ext cx="137160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Solver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12435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Calculator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(MATHDS)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400800" y="1257300"/>
            <a:ext cx="32004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156716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44602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2345436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137160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Lookup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24323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RAG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(TXTSRC)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00800" y="2446020"/>
            <a:ext cx="32004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2345436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63474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534156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3291840"/>
            <a:ext cx="137160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3284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0" y="3621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output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(SEMADPT)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400800" y="3634740"/>
            <a:ext cx="32004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3534156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491740"/>
            <a:ext cx="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1783080"/>
            <a:ext cx="155448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6656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output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final response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321040" y="2423160"/>
            <a:ext cx="27432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22208" y="23225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641080" y="2176272"/>
            <a:ext cx="320040" cy="502920"/>
          </a:xfrm>
          <a:prstGeom prst="rect">
            <a:avLst/>
          </a:prstGeom>
          <a:solidFill>
            <a:srgbClr val="1F3A5F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41080" y="217627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4754880" y="249174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" y="4297680"/>
            <a:ext cx="886968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3708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Intent Classifier is the core module under study. The LLM Baseline replaces it with a zero-shot large LLM call — both paths are evaluated on the same test set for accuracy and cost.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9536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Intent Classifier Module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Intent Classifier (SLM Fine-Tuning Pipeline)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417320" cy="100584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371600"/>
            <a:ext cx="1417320" cy="274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673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Query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input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language)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00200" y="187452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76479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1371600"/>
            <a:ext cx="1417320" cy="100584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1371600"/>
            <a:ext cx="1417320" cy="274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1673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WordPiece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+ padding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91840" y="187452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76479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1371600"/>
            <a:ext cx="1417320" cy="100584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1371600"/>
            <a:ext cx="1417320" cy="274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1673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/ BERT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embedding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83480" y="187452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76479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1371600"/>
            <a:ext cx="1417320" cy="100584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1371600"/>
            <a:ext cx="1417320" cy="274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1673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layer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softmax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75120" y="1874520"/>
            <a:ext cx="27432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76479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1371600"/>
            <a:ext cx="1417320" cy="100584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1371600"/>
            <a:ext cx="1417320" cy="2743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1673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1993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MATHDS / TXTSRC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SEMADPT / CSTRSET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7432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297180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30266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2880" y="3374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CLINC-150 + custom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MATHDS/TXTSRC set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600200" y="3406140"/>
            <a:ext cx="27432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91640" y="32964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74520" y="297180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30266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874520" y="3374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val, 10% test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91840" y="3406140"/>
            <a:ext cx="27432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32964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66160" y="297180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30266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(LoRA / Full)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566160" y="3374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4-class labels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83480" y="3406140"/>
            <a:ext cx="27432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32964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57800" y="297180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57800" y="30266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257800" y="3374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675120" y="3406140"/>
            <a:ext cx="274320" cy="0"/>
          </a:xfrm>
          <a:prstGeom prst="line">
            <a:avLst/>
          </a:prstGeom>
          <a:noFill/>
          <a:ln w="889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3296412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49440" y="2971800"/>
            <a:ext cx="14173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30266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49440" y="33741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val-accuracy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59536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Router &amp; Tool Execution Modules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Router — Maps intent label to execution handler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28016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394460"/>
            <a:ext cx="3657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12893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005840"/>
            <a:ext cx="1463040" cy="77724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005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(Decision)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61288"/>
            <a:ext cx="4572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06070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9326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MATHDS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94760" y="777240"/>
            <a:ext cx="146304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Solver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77724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822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 expression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 in Python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numeric result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1120140"/>
            <a:ext cx="1371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0195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1120140"/>
            <a:ext cx="3657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10195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394460"/>
            <a:ext cx="4572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129387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1658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TXTSRC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94760" y="1645920"/>
            <a:ext cx="146304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RAG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4960" y="164592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 query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 top-k docs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grounded answer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57800" y="1988820"/>
            <a:ext cx="1371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88823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55280" y="1988820"/>
            <a:ext cx="3657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188823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1627632"/>
            <a:ext cx="4572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15270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13990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SEMADPT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94760" y="2514600"/>
            <a:ext cx="146304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514600"/>
            <a:ext cx="2560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560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construction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call (open-ended)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creative output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257800" y="2857500"/>
            <a:ext cx="1371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1808" y="275691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955280" y="2857500"/>
            <a:ext cx="36576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1312" y="275691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321040" y="1115568"/>
            <a:ext cx="0" cy="1746504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39328" y="1481328"/>
            <a:ext cx="594360" cy="1097280"/>
          </a:xfrm>
          <a:prstGeom prst="rect">
            <a:avLst/>
          </a:prstGeom>
          <a:solidFill>
            <a:srgbClr val="1F3A5F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9328" y="148132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91840" y="1161288"/>
            <a:ext cx="0" cy="466344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3429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 through router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28600" y="37033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417320" y="3703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query text + intent label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28600" y="39593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MATHDS path: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417320" y="395935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string → Python eval → numeric result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28600" y="42153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TXTSRC path: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417320" y="421538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 → vector search → retrieved passages → grounded answer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28600" y="44714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SEMADPT path: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417320" y="447141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query → LLM completions API → open text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28600" y="47274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417320" y="472744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response string passed to aggregator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59536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Evaluation &amp; Comparison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SLM Classifier and LLM Baseline are compared under identical conditions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Test 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queries, same ground-truth labels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-13716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325880"/>
            <a:ext cx="0" cy="54864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325880"/>
            <a:ext cx="13716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325880"/>
            <a:ext cx="0" cy="54864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20240"/>
            <a:ext cx="320040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920240"/>
            <a:ext cx="3200400" cy="25603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SLM Classifier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DistilBERT/BERT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~67M parameters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15000" y="1920240"/>
            <a:ext cx="3200400" cy="685800"/>
          </a:xfrm>
          <a:prstGeom prst="rect">
            <a:avLst/>
          </a:prstGeom>
          <a:solidFill>
            <a:srgbClr val="F2F2F2"/>
          </a:solidFill>
          <a:ln w="10160">
            <a:solidFill>
              <a:srgbClr val="2C2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1920240"/>
            <a:ext cx="3200400" cy="25603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LLM Baseline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150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GPT-3.5 / LLaMA-2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~7B–175B parameters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2606040"/>
            <a:ext cx="0" cy="36576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28346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0" y="2606040"/>
            <a:ext cx="0" cy="36576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28346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017520"/>
            <a:ext cx="32004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175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Metrics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 accuracy (per class + overall)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Inference latency (ms/query)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(tokens or $ per 1k queries)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15000" y="3017520"/>
            <a:ext cx="320040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01752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Metrics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Classification accuracy (per class + overall)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Inference latency (ms/query)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(tokens or $ per 1k queries)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0" y="3840480"/>
            <a:ext cx="0" cy="27432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55648" y="40050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3840480"/>
            <a:ext cx="0" cy="27432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400507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0" y="4206240"/>
            <a:ext cx="365760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Comparator: Cost-Accuracy Report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4544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accuracy   ×   Δ cost   =   tradeoff score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28800" y="4206240"/>
            <a:ext cx="9144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206240"/>
            <a:ext cx="914400" cy="0"/>
          </a:xfrm>
          <a:prstGeom prst="line">
            <a:avLst/>
          </a:prstGeom>
          <a:noFill/>
          <a:ln w="10160">
            <a:solidFill>
              <a:srgbClr val="2C2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02336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Covered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17 papers across hallucination detection, intent classification, tool-augmented generation, RAG, and benchmarks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4 consolidated research gaps — all pointing to the same void: no isolated routing benchmark with cost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4-class intent taxonomy (MATHDS, TXTSRC, SEMADPT, CSTRSET) grounded in the gaps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End-to-end system architecture with SLM classifier as the core module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Module-wise DFDs for the classifier pipeline, router/tool execution, and evaluation comparator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4343400" cy="4023360"/>
          </a:xfrm>
          <a:prstGeom prst="rect">
            <a:avLst/>
          </a:prstGeom>
          <a:solidFill>
            <a:srgbClr val="F2F2F2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777240"/>
            <a:ext cx="4343400" cy="34747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77724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(Review 3 targets)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25272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1508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&amp; annotate MATHDS/TXTSRC/SEMADPT queries; balance classes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22219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DistilBERT on 4-class labels; record val accuracy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09160" y="267919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Baseline Eval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9352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GPT-3.5 prompt on same test set; capture token cost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09160" y="33924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Benchmarking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36484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 &amp; inference cost for both paths per 1k queries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41056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Analysis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4361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Δ accuracy vs. Δ cost; determine if SLM substitution is justified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95360" y="4937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2026-08-25T06:00:16Z</dcterms:created>
  <dcterms:modified xsi:type="dcterms:W3CDTF">2026-08-25T06:00:16Z</dcterms:modified>
</cp:coreProperties>
</file>